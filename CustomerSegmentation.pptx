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Inertia vs. Number of Clusters (k)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2700</c:v>
                </c:pt>
                <c:pt idx="1">
                  <c:v>1900</c:v>
                </c:pt>
                <c:pt idx="2">
                  <c:v>1250</c:v>
                </c:pt>
                <c:pt idx="3">
                  <c:v>680</c:v>
                </c:pt>
                <c:pt idx="4">
                  <c:v>600</c:v>
                </c:pt>
                <c:pt idx="5">
                  <c:v>540</c:v>
                </c:pt>
                <c:pt idx="6">
                  <c:v>490</c:v>
                </c:pt>
                <c:pt idx="7">
                  <c:v>460</c:v>
                </c:pt>
                <c:pt idx="8">
                  <c:v>440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Silhouette Score by k Value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X2 (Income+Spending)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3</c:v>
                  </c:pt>
                  <c:pt idx="1">
                    <c:v>4</c:v>
                  </c:pt>
                  <c:pt idx="2">
                    <c:v>5</c:v>
                  </c:pt>
                  <c:pt idx="3">
                    <c:v>6</c:v>
                  </c:pt>
                  <c:pt idx="4">
                    <c:v>7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0.51</c:v>
                </c:pt>
                <c:pt idx="1">
                  <c:v>0.55</c:v>
                </c:pt>
                <c:pt idx="2">
                  <c:v>0.72</c:v>
                </c:pt>
                <c:pt idx="3">
                  <c:v>0.65</c:v>
                </c:pt>
                <c:pt idx="4">
                  <c:v>0.58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X3 (Age+Income+Spending)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3</c:v>
                  </c:pt>
                  <c:pt idx="1">
                    <c:v>4</c:v>
                  </c:pt>
                  <c:pt idx="2">
                    <c:v>5</c:v>
                  </c:pt>
                  <c:pt idx="3">
                    <c:v>6</c:v>
                  </c:pt>
                  <c:pt idx="4">
                    <c:v>7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0.42</c:v>
                </c:pt>
                <c:pt idx="1">
                  <c:v>0.48</c:v>
                </c:pt>
                <c:pt idx="2">
                  <c:v>0.64</c:v>
                </c:pt>
                <c:pt idx="3">
                  <c:v>0.59</c:v>
                </c:pt>
                <c:pt idx="4">
                  <c:v>0.52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Income vs. Spending Score by Cluster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Annual Income (k$)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Cluster 0
Older Low</c:v>
                  </c:pt>
                  <c:pt idx="1">
                    <c:v>Cluster 1
Moderate</c:v>
                  </c:pt>
                  <c:pt idx="2">
                    <c:v>Cluster 2
Young High</c:v>
                  </c:pt>
                  <c:pt idx="3">
                    <c:v>Cluster 3
High Frugal</c:v>
                  </c:pt>
                  <c:pt idx="4">
                    <c:v>Cluster 4
Young Low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</c:v>
                </c:pt>
                <c:pt idx="1">
                  <c:v>55</c:v>
                </c:pt>
                <c:pt idx="2">
                  <c:v>79</c:v>
                </c:pt>
                <c:pt idx="3">
                  <c:v>88</c:v>
                </c:pt>
                <c:pt idx="4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Spending Score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Cluster 0
Older Low</c:v>
                  </c:pt>
                  <c:pt idx="1">
                    <c:v>Cluster 1
Moderate</c:v>
                  </c:pt>
                  <c:pt idx="2">
                    <c:v>Cluster 2
Young High</c:v>
                  </c:pt>
                  <c:pt idx="3">
                    <c:v>Cluster 3
High Frugal</c:v>
                  </c:pt>
                  <c:pt idx="4">
                    <c:v>Cluster 4
Young Low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</c:v>
                </c:pt>
                <c:pt idx="1">
                  <c:v>49</c:v>
                </c:pt>
                <c:pt idx="2">
                  <c:v>82</c:v>
                </c:pt>
                <c:pt idx="3">
                  <c:v>17</c:v>
                </c:pt>
                <c:pt idx="4">
                  <c:v>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3474720"/>
            <a:ext cx="8979408" cy="166878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K-Means Clustering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for Targeted Marketing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6118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Presentation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9319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 / Team Name]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206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Project — Review 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97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960120"/>
            <a:ext cx="7315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Primary Goal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mall customers based on purchasing habits and demographics.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297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60120"/>
            <a:ext cx="7315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Key Metrics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4630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Income, Spending Score, and Age.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8600" y="2926080"/>
            <a:ext cx="4297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926080"/>
            <a:ext cx="7315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63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Business Value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4290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personalized marketing strategies and improve customer retention.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926080"/>
            <a:ext cx="4297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26080"/>
            <a:ext cx="7315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063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Outcome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4290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five distinct customer personas via unsupervised learning.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Project — Review 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2560320" cy="1280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960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74320" y="1645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914400"/>
            <a:ext cx="2560320" cy="1280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960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154680" y="1645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914400"/>
            <a:ext cx="2560320" cy="1280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960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035040" y="1645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2423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43200"/>
          <a:ext cx="8503920" cy="2103120"/>
        </p:xfrm>
        <a:graphic>
          <a:graphicData uri="http://schemas.openxmlformats.org/drawingml/2006/table">
            <a:tbl>
              <a:tblPr/>
              <a:tblGrid>
                <a:gridCol w="2743200"/>
                <a:gridCol w="5760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identifier per 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/ Female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in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Income (k$)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income in thousands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Spending Score (1–100)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assigned by the mall based on behavior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Cleaning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Project — Review 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914400"/>
            <a:ext cx="41148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9144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" y="1280160"/>
            <a:ext cx="389534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Values: None detected (df.info())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Duplicates: 0 found (df.duplicated().sum())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200 records retained for analysis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clean — no imputation needed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914400"/>
            <a:ext cx="4343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914400"/>
            <a:ext cx="43434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91440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 (df.describe())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1728" y="1280160"/>
            <a:ext cx="412394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Age: ~38.9 years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Annual Income: ~60.5k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Spending Score: ~50.2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spread with no extreme outliers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ready for clustering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Project — Review 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2860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26187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80160"/>
          <a:ext cx="4114800" cy="100584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 (56%)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 (44%)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2860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Observations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28600" y="28803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proportion of female customers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&amp; Spending show near-normal distribution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peaks hint at natural clusters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914400"/>
            <a:ext cx="4251960" cy="3840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Pairplot (hue='Gender')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54880" y="1828800"/>
            <a:ext cx="3977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plotting Annual Income vs. Spending Score, five distinct visual groupings emerge — regardless of gender. This was our first confirmation that natural clusters exist in the data.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754880" y="374904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Gender is evenly distributed across income and spending brackets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K-Means Clustering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Project — Review 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9144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96012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234440" y="960120"/>
            <a:ext cx="7635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53312" y="10149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53312" y="130759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(Unsupervised Learning) using Euclidean distance as the metric.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1965960"/>
            <a:ext cx="9144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96596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234440" y="1965960"/>
            <a:ext cx="7635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53312" y="20208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 X2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3312" y="231343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 + Spending Score only. Two-dimensional analysis.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971800"/>
            <a:ext cx="9144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97180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234440" y="2971800"/>
            <a:ext cx="7635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53312" y="3026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 X3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53312" y="33192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+ Annual Income + Spending Score. Richer, three-dimensional view.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3977640"/>
            <a:ext cx="9144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97764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234440" y="3977640"/>
            <a:ext cx="7635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353312" y="40325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53312" y="432511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+ Silhouette Score to confirm optimal k.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— The Elbow Method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Project — Review 2</a:t>
            </a:r>
            <a:endParaRPr lang="en-US" sz="7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28600" y="868680"/>
          <a:ext cx="53035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715000" y="868680"/>
            <a:ext cx="3200400" cy="3977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06440" y="1005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at k = 5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806440" y="150876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tested: k = 2 to 10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Inertia (Within-Cluster Sum of Squares)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decrease slows sharply at k=5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k=5, gains are marginal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06440" y="4023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k = 5 selected as optimal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— Silhouette Score Validation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Project — Review 2</a:t>
            </a:r>
            <a:endParaRPr lang="en-US" sz="7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28600" y="868680"/>
          <a:ext cx="53035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715000" y="868680"/>
            <a:ext cx="3200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15000" y="868680"/>
            <a:ext cx="32004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06440" y="8686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24728" y="1234440"/>
            <a:ext cx="298094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Cohesion: how similar a point is to its own cluster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Separation: how different it is from other clusters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-1 (wrong cluster) to +1 (perfect fit)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scores highest for both feature sets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Elbow Method result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Implementation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Project — Review 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868680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0058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KMeans(n_clusters=5, n_init=10, random_state=42)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8600" y="2286000"/>
            <a:ext cx="8686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860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17520" y="228600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 — Age, Annual Income, Spending Score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" y="2944368"/>
            <a:ext cx="8686800" cy="530352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4436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17520" y="2944368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(confirmed by Elbow + Silhouette)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8600" y="3602736"/>
            <a:ext cx="8686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0273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017520" y="3602736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n_init=10 for stability across random seeds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8600" y="4261104"/>
            <a:ext cx="8686800" cy="530352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26110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17520" y="4261104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 for reproducibility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Cluster Visualization &amp; Centroids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Project — Review 2</a:t>
            </a:r>
            <a:endParaRPr lang="en-US" sz="7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28600" y="868680"/>
          <a:ext cx="53035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715000" y="868680"/>
            <a:ext cx="3200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15000" y="868680"/>
            <a:ext cx="32004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06440" y="8686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Notes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24728" y="1234440"/>
            <a:ext cx="298094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Axes: Annual Income (X) × Spending Score (Y)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Centroids marked with black 'X'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boundaries visible between all 5 groups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without Age axis, separation is distinct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color = one customer segment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Cluster Visualization — Age × Income × Spending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Project — Review 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5303520" cy="3977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005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Scatter Plot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371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Axes3D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5029200" cy="475488"/>
          </a:xfrm>
          <a:prstGeom prst="rect">
            <a:avLst/>
          </a:prstGeom>
          <a:solidFill>
            <a:srgbClr val="17203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2880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18288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 (k$)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423160"/>
            <a:ext cx="5029200" cy="475488"/>
          </a:xfrm>
          <a:prstGeom prst="rect">
            <a:avLst/>
          </a:prstGeom>
          <a:solidFill>
            <a:srgbClr val="17203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2316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24231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Score (1–100)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5029200" cy="475488"/>
          </a:xfrm>
          <a:prstGeom prst="rect">
            <a:avLst/>
          </a:prstGeom>
          <a:solidFill>
            <a:srgbClr val="17203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17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Z-Axis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1600" y="30175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(years)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004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= Cluster ID (5 clusters)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15000" y="868680"/>
            <a:ext cx="3200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15000" y="868680"/>
            <a:ext cx="32004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8686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3D Matters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24728" y="1234440"/>
            <a:ext cx="298094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separates clusters that overlap in 2D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High Spenders vs. Older Low Spenders clearly split on Z-axis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full picture of customer dimensions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k=5 is robust across all three features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Interpretation — The 5 Customer Personas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Project — Review 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249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960120"/>
            <a:ext cx="272491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96012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👴  Cluster 0 — Older Low Spenders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" y="1417320"/>
            <a:ext cx="25054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Age · Low Income · Low Spending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72968" y="960120"/>
            <a:ext cx="27249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960120"/>
            <a:ext cx="2724912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96012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Cluster 1 — Moderate Balanced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82696" y="1417320"/>
            <a:ext cx="25054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 · Mid Income · Mid Spending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17336" y="960120"/>
            <a:ext cx="27249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17336" y="960120"/>
            <a:ext cx="272491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96012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 Cluster 2 — Young High Spenders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27064" y="1417320"/>
            <a:ext cx="25054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Age · High Income · High Spending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30175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3017520"/>
            <a:ext cx="4206240" cy="3840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17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Cluster 3 — High Income Frugal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8328" y="3474720"/>
            <a:ext cx="3986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 · High Income · Low Spending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72968" y="30175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72968" y="3017520"/>
            <a:ext cx="42062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3017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Cluster 4 — Young Low Income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82696" y="3474720"/>
            <a:ext cx="3986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Age · Low Income · High Spending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Summary — Cluster Mean Values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Project — Review 2</a:t>
            </a:r>
            <a:endParaRPr lang="en-US" sz="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96112"/>
          <a:ext cx="8686800" cy="2743200"/>
        </p:xfrm>
        <a:graphic>
          <a:graphicData uri="http://schemas.openxmlformats.org/drawingml/2006/table">
            <a:tbl>
              <a:tblPr/>
              <a:tblGrid>
                <a:gridCol w="914400"/>
                <a:gridCol w="2743200"/>
                <a:gridCol w="1371600"/>
                <a:gridCol w="1828800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Income (k$)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Spending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 Low Spenders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Balanced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 High Spenders 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Income Frugal 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11D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 Low Income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3840480"/>
            <a:ext cx="4114800" cy="868680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3877056"/>
            <a:ext cx="39319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Cluster 2 (Avg Spending ~82): Prime target for premium campaigns.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0" y="3840480"/>
            <a:ext cx="4343400" cy="868680"/>
          </a:xfrm>
          <a:prstGeom prst="rect">
            <a:avLst/>
          </a:prstGeom>
          <a:solidFill>
            <a:srgbClr val="FFF0F3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3877056"/>
            <a:ext cx="41605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Cluster 3 (Income ~88k, Spending ~17): Massive opportunity — high wallet, low conversion.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 Analysis — New Addition to the Project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Project — Review 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86868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integrated Market Basket Analysis (Apriori Algorithm) to discover product association rules within customer segments.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" y="16916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69164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91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084832"/>
            <a:ext cx="25603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frequently an itemset appears in transactions.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72968" y="16916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691640"/>
            <a:ext cx="27432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691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64408" y="2084832"/>
            <a:ext cx="25603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that item B is purchased when item A is bought.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17336" y="16916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17336" y="1691640"/>
            <a:ext cx="2743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691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08776" y="2084832"/>
            <a:ext cx="25603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of the rule over random co-occurrence. Lift &gt; 1 = positive correlation.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8600" y="324612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Association Rules Discovered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566160"/>
          <a:ext cx="8686800" cy="132588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1280160"/>
                <a:gridCol w="146304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Customer Buys 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 Also Buys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Skincare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 Perfume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 Equipment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Supplements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Clothing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Accessories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Segmentation with Market Basket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56048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Project — Review 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28600" y="9144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Work Together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353312"/>
            <a:ext cx="8686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353312"/>
            <a:ext cx="91440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0817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— Young High Spenders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700784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Luxury Skincare → Premium Accessories (Lift: 2.5)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197510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Bundle luxury items. Promote cross-sell via app notifications.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542032"/>
            <a:ext cx="8686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542032"/>
            <a:ext cx="91440" cy="107899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968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 — High Income Frugal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889504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Discounts trigger purchase of Electronics (Lift: 2.1)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3163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targeted discount codes to activate high-income dormant buyers.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3730752"/>
            <a:ext cx="8686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730752"/>
            <a:ext cx="91440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7856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4 — Young Low Income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078224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Budget Clothing → Accessories (Lift: 1.9)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435254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Volume-based loyalty offers. Bundle affordable combos.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4663440"/>
            <a:ext cx="8686800" cy="320040"/>
          </a:xfrm>
          <a:prstGeom prst="rect">
            <a:avLst/>
          </a:prstGeom>
          <a:solidFill>
            <a:srgbClr val="CCECE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identifies WHO to target. Market Basket Analysis reveals WHAT to recommend to them.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Steps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28016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customers successfully segmented into 5 actionable personas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confirmed at k=5 via Elbow Method + Silhouette Score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 Analysis integrated to uncover product association rules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+ MBA provides a complete targeting + recommendation framework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27432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310896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Gender into clustering features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Hierarchical Clustering with Dendrograms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Market Basket Analysis with FP-Growth algorithm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real-time recommendation &amp; segmentation tool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4800600"/>
            <a:ext cx="8979408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00600"/>
            <a:ext cx="8686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using K-Means Clustering</dc:title>
  <dc:subject>PptxGenJS Presentation</dc:subject>
  <dc:creator>PptxGenJS</dc:creator>
  <cp:lastModifiedBy>PptxGenJS</cp:lastModifiedBy>
  <cp:revision>1</cp:revision>
  <dcterms:created xsi:type="dcterms:W3CDTF">2026-03-23T04:35:32Z</dcterms:created>
  <dcterms:modified xsi:type="dcterms:W3CDTF">2026-03-23T04:35:32Z</dcterms:modified>
</cp:coreProperties>
</file>